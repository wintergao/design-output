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f0b970007240b4" /><Relationship Type="http://schemas.openxmlformats.org/officeDocument/2006/relationships/extended-properties" Target="/docProps/app.xml" Id="R005873183909408b" /><Relationship Type="http://schemas.openxmlformats.org/officeDocument/2006/relationships/officeDocument" Target="/ppt/presentation.xml" Id="R24e44959999f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e3336a8b4a4d8d"/>
  </p:sldMasterIdLst>
  <p:notesMasterIdLst>
    <p:notesMasterId xmlns:r="http://schemas.openxmlformats.org/officeDocument/2006/relationships" r:id="Rfaa7c6d2a12e4f5b"/>
  </p:notesMasterIdLst>
  <p:sldIdLst>
    <p:sldId xmlns:r="http://schemas.openxmlformats.org/officeDocument/2006/relationships" id="256" r:id="R99ee7c3665854a35"/>
    <p:sldId xmlns:r="http://schemas.openxmlformats.org/officeDocument/2006/relationships" id="257" r:id="Rf0f603af16234443"/>
    <p:sldId xmlns:r="http://schemas.openxmlformats.org/officeDocument/2006/relationships" id="258" r:id="R3e1f04543e4f4fb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29ec8f2f2421d" /><Relationship Type="http://schemas.openxmlformats.org/officeDocument/2006/relationships/slideMaster" Target="/ppt/slideMasters/slideMaster1.xml" Id="Rdee3336a8b4a4d8d" /><Relationship Type="http://schemas.openxmlformats.org/officeDocument/2006/relationships/notesMaster" Target="/ppt/notesMasters/notesMaster1.xml" Id="Rfaa7c6d2a12e4f5b" /><Relationship Type="http://schemas.openxmlformats.org/officeDocument/2006/relationships/presProps" Target="/ppt/presProps.xml" Id="R72147b659fc344f3" /><Relationship Type="http://schemas.openxmlformats.org/officeDocument/2006/relationships/viewProps" Target="/ppt/viewProps.xml" Id="Rdc8373253c6d49d5" /><Relationship Type="http://schemas.openxmlformats.org/officeDocument/2006/relationships/tableStyles" Target="/ppt/tableStyles.xml" Id="R8a6198fe419d4cf0" /><Relationship Type="http://schemas.openxmlformats.org/officeDocument/2006/relationships/slide" Target="/ppt/slides/slide1.xml" Id="R99ee7c3665854a35" /><Relationship Type="http://schemas.openxmlformats.org/officeDocument/2006/relationships/slide" Target="/ppt/slides/slide2.xml" Id="Rf0f603af16234443" /><Relationship Type="http://schemas.openxmlformats.org/officeDocument/2006/relationships/slide" Target="/ppt/slides/slide3.xml" Id="R3e1f04543e4f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15d30af9f7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9d814b3bd4fa1" /><Relationship Type="http://schemas.openxmlformats.org/officeDocument/2006/relationships/notesMaster" Target="/ppt/notesMasters/notesMaster1.xml" Id="Rebf71409ca7b43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1f3a985abc4586" /><Relationship Type="http://schemas.openxmlformats.org/officeDocument/2006/relationships/notesMaster" Target="/ppt/notesMasters/notesMaster1.xml" Id="R05fd0b462f73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3b69717ab24e25" /><Relationship Type="http://schemas.openxmlformats.org/officeDocument/2006/relationships/notesMaster" Target="/ppt/notesMasters/notesMaster1.xml" Id="Rf04e23bbd14e4d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e2785a35d4a77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C99507E-36AB-4E31-B87B-4CE8DF4E40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5274821-E5E5-4F2B-BAA7-18E7A11326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69B869-4ABB-4DF5-8277-A9A21ACDB4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f7fd084bc1474d" /><Relationship Type="http://schemas.openxmlformats.org/officeDocument/2006/relationships/slideLayout" Target="/ppt/slideLayouts/slideLayout1.xml" Id="R31c12e4728e74d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41EC1E4-41EB-4157-B024-48C39004C2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F78701-D75F-4B15-84FC-DF120565C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16A6C5-1E0C-45B4-8FF5-6ECA782BADB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C2095E-3A20-46E7-A7E0-1BF7F46A037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A8E977-281A-4E55-88F1-ADB2A49E861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12e4728e74d6c"/>
  </p:sldLayoutIdLst>
  <p:hf sldNum="0"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ct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indent="-228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4d561080042de" /><Relationship Type="http://schemas.openxmlformats.org/officeDocument/2006/relationships/image" Target="/ppt/media/image.png" Id="Rb8a4f50e41dc44d8" /><Relationship Type="http://schemas.openxmlformats.org/officeDocument/2006/relationships/image" Target="/ppt/media/image2.png" Id="Rfca168a383fd407c" /><Relationship Type="http://schemas.openxmlformats.org/officeDocument/2006/relationships/notesSlide" Target="/ppt/notesSlides/notesSlide1.xml" Id="R93bc8e5fa3a143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b2857d944e70" /><Relationship Type="http://schemas.openxmlformats.org/officeDocument/2006/relationships/image" Target="/ppt/media/image3.png" Id="Recc2ea64097d46d4" /><Relationship Type="http://schemas.openxmlformats.org/officeDocument/2006/relationships/image" Target="/ppt/media/image4.png" Id="Re1439d62b1724637" /><Relationship Type="http://schemas.openxmlformats.org/officeDocument/2006/relationships/image" Target="/ppt/media/image.png" Id="R48c5afe441aa4903" /><Relationship Type="http://schemas.openxmlformats.org/officeDocument/2006/relationships/image" Target="/ppt/media/image5.png" Id="R8b46c07d92ae4697" /><Relationship Type="http://schemas.openxmlformats.org/officeDocument/2006/relationships/notesSlide" Target="/ppt/notesSlides/notesSlide2.xml" Id="R1b8b78bd2ef5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762477f574a8e" /><Relationship Type="http://schemas.openxmlformats.org/officeDocument/2006/relationships/image" Target="/ppt/media/image6.png" Id="Rff03621485394169" /><Relationship Type="http://schemas.openxmlformats.org/officeDocument/2006/relationships/image" Target="/ppt/media/image7.png" Id="Rf327f56dac7e4c02" /><Relationship Type="http://schemas.openxmlformats.org/officeDocument/2006/relationships/image" Target="/ppt/media/image.png" Id="R00672821e7ab48d8" /><Relationship Type="http://schemas.openxmlformats.org/officeDocument/2006/relationships/notesSlide" Target="/ppt/notesSlides/notesSlide3.xml" Id="R0e2afaeb181c48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6" name="Shape 856">
            <a:extLst xmlns:a="http://schemas.openxmlformats.org/drawingml/2006/main">
              <a:ext uri="{FF2B5EF4-FFF2-40B4-BE49-F238E27FC236}">
                <a16:creationId xmlns:a16="http://schemas.microsoft.com/office/drawing/2014/main" id="{904D6525-87BF-4905-B090-E007935A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1552873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Sora"/>
                <a:ea typeface="Sora"/>
                <a:cs typeface="Sora"/>
              </a:rPr>
              <a:t>AGENT PLATFORM</a:t>
            </a:r>
            <a:endParaRPr/>
          </a:p>
        </p:txBody>
      </p:sp>
      <p:sp>
        <p:nvSpPr>
          <p:cNvPr id="857" name="Shape 857">
            <a:extLst xmlns:a="http://schemas.openxmlformats.org/drawingml/2006/main">
              <a:ext uri="{FF2B5EF4-FFF2-40B4-BE49-F238E27FC236}">
                <a16:creationId xmlns:a16="http://schemas.microsoft.com/office/drawing/2014/main" id="{D1235F5B-7451-48EA-B958-74C3913A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845" y="314325"/>
            <a:ext cx="5328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spc="75">
                <a:solidFill>
                  <a:srgbClr val="526278"/>
                </a:solidFill>
                <a:latin typeface="Sora"/>
                <a:ea typeface="Sora"/>
                <a:cs typeface="Sora"/>
              </a:rPr>
              <a:t>01 / 03</a:t>
            </a:r>
            <a:endParaRPr/>
          </a:p>
        </p:txBody>
      </p:sp>
      <p:sp>
        <p:nvSpPr>
          <p:cNvPr id="858" name="Shape 858">
            <a:extLst xmlns:a="http://schemas.openxmlformats.org/drawingml/2006/main">
              <a:ext uri="{FF2B5EF4-FFF2-40B4-BE49-F238E27FC236}">
                <a16:creationId xmlns:a16="http://schemas.microsoft.com/office/drawing/2014/main" id="{D7954AEC-472A-4BEC-A1B3-AC0A8C9D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defPPr>
            <a:lvl1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1pPr>
            <a:lvl2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2pPr>
            <a:lvl3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3pPr>
            <a:lvl4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4pPr>
            <a:lvl5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5pPr>
            <a:lvl6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6pPr>
            <a:lvl7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7pPr>
            <a:lvl8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8pPr>
            <a:lvl9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ts val="4050"/>
              </a:lnSpc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pPr>
            <a:r>
              <a:rPr sz="3000" b="1" i="0" spc="0">
                <a:solidFill>
                  <a:srgbClr val="182230"/>
                </a:solidFill>
                <a:latin typeface="Sora"/>
                <a:ea typeface="Sora"/>
                <a:cs typeface="Sora"/>
              </a:rPr>
              <a:t>Agent Testing &amp; Evaluation</a:t>
            </a:r>
            <a:endParaRPr/>
          </a:p>
        </p:txBody>
      </p:sp>
      <p:sp>
        <p:nvSpPr>
          <p:cNvPr id="859" name="Shape 859">
            <a:extLst xmlns:a="http://schemas.openxmlformats.org/drawingml/2006/main">
              <a:ext uri="{FF2B5EF4-FFF2-40B4-BE49-F238E27FC236}">
                <a16:creationId xmlns:a16="http://schemas.microsoft.com/office/drawing/2014/main" id="{1F626B1C-1CF8-4B6A-BEA3-88F01FF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526278"/>
                </a:solidFill>
                <a:latin typeface="Inter"/>
                <a:ea typeface="Inter"/>
                <a:cs typeface="Inter"/>
              </a:rPr>
              <a:t>A development loop from interactive exploration to release readiness.</a:t>
            </a:r>
            <a:endParaRPr/>
          </a:p>
        </p:txBody>
      </p:sp>
      <p:sp>
        <p:nvSpPr>
          <p:cNvPr id="860" name="Shape 860">
            <a:extLst xmlns:a="http://schemas.openxmlformats.org/drawingml/2006/main">
              <a:ext uri="{FF2B5EF4-FFF2-40B4-BE49-F238E27FC236}">
                <a16:creationId xmlns:a16="http://schemas.microsoft.com/office/drawing/2014/main" id="{21C15112-B253-4D49-AF52-736BDAE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1647D8"/>
                </a:solidFill>
                <a:latin typeface="Inter"/>
                <a:ea typeface="Inter"/>
                <a:cs typeface="Inter"/>
              </a:rPr>
              <a:t>Development loop</a:t>
            </a:r>
            <a:endParaRPr/>
          </a:p>
        </p:txBody>
      </p:sp>
      <p:sp>
        <p:nvSpPr>
          <p:cNvPr id="861" name="Shape 861">
            <a:extLst xmlns:a="http://schemas.openxmlformats.org/drawingml/2006/main">
              <a:ext uri="{FF2B5EF4-FFF2-40B4-BE49-F238E27FC236}">
                <a16:creationId xmlns:a16="http://schemas.microsoft.com/office/drawing/2014/main" id="{644C59F9-539C-4910-98B9-9BD4E3E5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1</a:t>
            </a:r>
            <a:endParaRPr/>
          </a:p>
        </p:txBody>
      </p:sp>
      <p:sp>
        <p:nvSpPr>
          <p:cNvPr id="862" name="Shape 862">
            <a:extLst xmlns:a="http://schemas.openxmlformats.org/drawingml/2006/main">
              <a:ext uri="{FF2B5EF4-FFF2-40B4-BE49-F238E27FC236}">
                <a16:creationId xmlns:a16="http://schemas.microsoft.com/office/drawing/2014/main" id="{7B1F8D4E-E7CC-4563-8A1E-9B9D5BC0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34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Explore</a:t>
            </a:r>
            <a:endParaRPr/>
          </a:p>
        </p:txBody>
      </p:sp>
      <p:pic>
        <p:nvPicPr>
          <p:cNvPr id="295" name="Presenton Native Image 2">
            <a:extLst xmlns:a="http://schemas.openxmlformats.org/drawingml/2006/main">
              <a:ext uri="{FF2B5EF4-FFF2-40B4-BE49-F238E27FC236}">
                <a16:creationId xmlns:a16="http://schemas.microsoft.com/office/drawing/2014/main" id="{C9424BE8-B24E-42B3-B97D-790E2BE21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4f50e41dc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81275" y="5457825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63" name="Shape 863">
            <a:extLst xmlns:a="http://schemas.openxmlformats.org/drawingml/2006/main">
              <a:ext uri="{FF2B5EF4-FFF2-40B4-BE49-F238E27FC236}">
                <a16:creationId xmlns:a16="http://schemas.microsoft.com/office/drawing/2014/main" id="{3E2530C9-B95F-46C4-BD66-F13322CB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435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2</a:t>
            </a:r>
            <a:endParaRPr/>
          </a:p>
        </p:txBody>
      </p:sp>
      <p:sp>
        <p:nvSpPr>
          <p:cNvPr id="864" name="Shape 864">
            <a:extLst xmlns:a="http://schemas.openxmlformats.org/drawingml/2006/main">
              <a:ext uri="{FF2B5EF4-FFF2-40B4-BE49-F238E27FC236}">
                <a16:creationId xmlns:a16="http://schemas.microsoft.com/office/drawing/2014/main" id="{517308DB-84A4-4DE6-A0A1-4072FBA5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Capture cases</a:t>
            </a:r>
            <a:endParaRPr/>
          </a:p>
        </p:txBody>
      </p:sp>
      <p:pic>
        <p:nvPicPr>
          <p:cNvPr id="296" name="Presenton Native Image 3">
            <a:extLst xmlns:a="http://schemas.openxmlformats.org/drawingml/2006/main">
              <a:ext uri="{FF2B5EF4-FFF2-40B4-BE49-F238E27FC236}">
                <a16:creationId xmlns:a16="http://schemas.microsoft.com/office/drawing/2014/main" id="{054BFA0D-B8A4-4B29-A0BE-D38A7CDADE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4f50e41dc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5457825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65" name="Shape 865">
            <a:extLst xmlns:a="http://schemas.openxmlformats.org/drawingml/2006/main">
              <a:ext uri="{FF2B5EF4-FFF2-40B4-BE49-F238E27FC236}">
                <a16:creationId xmlns:a16="http://schemas.microsoft.com/office/drawing/2014/main" id="{1D39CAB7-4B79-4CED-89E8-9CBEAD0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435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3</a:t>
            </a:r>
            <a:endParaRPr/>
          </a:p>
        </p:txBody>
      </p:sp>
      <p:sp>
        <p:nvSpPr>
          <p:cNvPr id="866" name="Shape 866">
            <a:extLst xmlns:a="http://schemas.openxmlformats.org/drawingml/2006/main">
              <a:ext uri="{FF2B5EF4-FFF2-40B4-BE49-F238E27FC236}">
                <a16:creationId xmlns:a16="http://schemas.microsoft.com/office/drawing/2014/main" id="{2D67F106-A027-42C5-80CD-08177A9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34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Run and score</a:t>
            </a:r>
            <a:endParaRPr/>
          </a:p>
        </p:txBody>
      </p:sp>
      <p:pic>
        <p:nvPicPr>
          <p:cNvPr id="297" name="Presenton Native Image 4">
            <a:extLst xmlns:a="http://schemas.openxmlformats.org/drawingml/2006/main">
              <a:ext uri="{FF2B5EF4-FFF2-40B4-BE49-F238E27FC236}">
                <a16:creationId xmlns:a16="http://schemas.microsoft.com/office/drawing/2014/main" id="{3AEB88ED-2389-4DB1-930F-1AD757748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4f50e41dc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4225" y="5457825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67" name="Shape 867">
            <a:extLst xmlns:a="http://schemas.openxmlformats.org/drawingml/2006/main">
              <a:ext uri="{FF2B5EF4-FFF2-40B4-BE49-F238E27FC236}">
                <a16:creationId xmlns:a16="http://schemas.microsoft.com/office/drawing/2014/main" id="{AE09733D-6659-4A56-83D5-69389A3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3435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4</a:t>
            </a:r>
            <a:endParaRPr/>
          </a:p>
        </p:txBody>
      </p:sp>
      <p:sp>
        <p:nvSpPr>
          <p:cNvPr id="868" name="Shape 868">
            <a:extLst xmlns:a="http://schemas.openxmlformats.org/drawingml/2006/main">
              <a:ext uri="{FF2B5EF4-FFF2-40B4-BE49-F238E27FC236}">
                <a16:creationId xmlns:a16="http://schemas.microsoft.com/office/drawing/2014/main" id="{91E461E1-242C-4FC7-9AF8-0A4A2AD6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34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Assess version</a:t>
            </a:r>
            <a:endParaRPr/>
          </a:p>
        </p:txBody>
      </p:sp>
      <p:pic>
        <p:nvPicPr>
          <p:cNvPr id="298" name="Presenton Native Image 5">
            <a:extLst xmlns:a="http://schemas.openxmlformats.org/drawingml/2006/main">
              <a:ext uri="{FF2B5EF4-FFF2-40B4-BE49-F238E27FC236}">
                <a16:creationId xmlns:a16="http://schemas.microsoft.com/office/drawing/2014/main" id="{51ADB576-3B6E-4BA1-BA0F-972F4A833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4f50e41dc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5457825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69" name="Shape 869">
            <a:extLst xmlns:a="http://schemas.openxmlformats.org/drawingml/2006/main">
              <a:ext uri="{FF2B5EF4-FFF2-40B4-BE49-F238E27FC236}">
                <a16:creationId xmlns:a16="http://schemas.microsoft.com/office/drawing/2014/main" id="{C850E0EA-7627-4550-B5E4-2BFC74AD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435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5</a:t>
            </a:r>
            <a:endParaRPr/>
          </a:p>
        </p:txBody>
      </p:sp>
      <p:sp>
        <p:nvSpPr>
          <p:cNvPr id="870" name="Shape 870">
            <a:extLst xmlns:a="http://schemas.openxmlformats.org/drawingml/2006/main">
              <a:ext uri="{FF2B5EF4-FFF2-40B4-BE49-F238E27FC236}">
                <a16:creationId xmlns:a16="http://schemas.microsoft.com/office/drawing/2014/main" id="{F0CC5A48-6B58-4B99-BBE0-1CDBF45F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334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Fix or release</a:t>
            </a:r>
            <a:endParaRPr/>
          </a:p>
        </p:txBody>
      </p:sp>
      <p:pic>
        <p:nvPicPr>
          <p:cNvPr id="299" name="Presenton Native Image 6">
            <a:extLst xmlns:a="http://schemas.openxmlformats.org/drawingml/2006/main">
              <a:ext uri="{FF2B5EF4-FFF2-40B4-BE49-F238E27FC236}">
                <a16:creationId xmlns:a16="http://schemas.microsoft.com/office/drawing/2014/main" id="{6E16C5C4-8E0F-4608-8C29-D4E9B11B6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168a383fd40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6000750"/>
            <a:ext cx="11125200" cy="447675"/>
          </a:xfrm>
          <a:prstGeom xmlns:a="http://schemas.openxmlformats.org/drawingml/2006/main" prst="rect">
            <a:avLst/>
          </a:prstGeom>
        </p:spPr>
      </p:pic>
      <p:sp>
        <p:nvSpPr>
          <p:cNvPr id="871" name="Shape 871">
            <a:extLst xmlns:a="http://schemas.openxmlformats.org/drawingml/2006/main">
              <a:ext uri="{FF2B5EF4-FFF2-40B4-BE49-F238E27FC236}">
                <a16:creationId xmlns:a16="http://schemas.microsoft.com/office/drawing/2014/main" id="{1A296618-7FD8-444F-B707-83CAC08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626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250"/>
              </a:lnSpc>
              <a:buNone/>
              <a:defRPr sz="150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1647D8"/>
                </a:solidFill>
                <a:latin typeface="Inter"/>
                <a:ea typeface="Inter"/>
                <a:cs typeface="Inter"/>
              </a:rPr>
              <a:t>Responsibilities</a:t>
            </a:r>
            <a:endParaRPr/>
          </a:p>
        </p:txBody>
      </p:sp>
      <p:sp>
        <p:nvSpPr>
          <p:cNvPr id="872" name="Shape 872">
            <a:extLst xmlns:a="http://schemas.openxmlformats.org/drawingml/2006/main">
              <a:ext uri="{FF2B5EF4-FFF2-40B4-BE49-F238E27FC236}">
                <a16:creationId xmlns:a16="http://schemas.microsoft.com/office/drawing/2014/main" id="{D2536122-68EC-4D9F-90BC-C321F68C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626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250"/>
              </a:lnSpc>
              <a:buNone/>
              <a:defRPr sz="1575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Test executes and scores cases. Evaluation judges release readiness from the evidence.</a:t>
            </a:r>
            <a:endParaRPr/>
          </a:p>
        </p:txBody>
      </p:sp>
      <p:graphicFrame>
        <p:nvGraphicFrame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A80B0BF0-D2EC-43BC-890E-9F28A74995D7}"/>
              </a:ext>
            </a:extLst>
          </p:cNvPr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29718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885950"/>
                <a:gridCol w="2705100"/>
                <a:gridCol w="3829050"/>
                <a:gridCol w="2705100"/>
              </a:tblGrid>
              <a:tr h="400050"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Module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7D8FC"/>
                      </a:solidFill>
                      <a:prstDash val="solid"/>
                    </a:lnL>
                    <a:lnR w="5715">
                      <a:solidFill>
                        <a:srgbClr val="C7D8FC"/>
                      </a:solidFill>
                      <a:prstDash val="solid"/>
                    </a:lnR>
                    <a:lnT w="5715">
                      <a:solidFill>
                        <a:srgbClr val="C7D8FC"/>
                      </a:solidFill>
                      <a:prstDash val="solid"/>
                    </a:lnT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1647D8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Key question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T w="5715">
                      <a:solidFill>
                        <a:srgbClr val="C7D8FC"/>
                      </a:solidFill>
                      <a:prstDash val="solid"/>
                    </a:lnT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1647D8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Core capabilities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T w="5715">
                      <a:solidFill>
                        <a:srgbClr val="C7D8FC"/>
                      </a:solidFill>
                      <a:prstDash val="solid"/>
                    </a:lnT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1647D8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Outputs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T w="5715">
                      <a:solidFill>
                        <a:srgbClr val="C7D8FC"/>
                      </a:solidFill>
                      <a:prstDash val="solid"/>
                    </a:lnT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1647D8"/>
                    </a:solidFill>
                  </a:tcPr>
                </a:tc>
              </a:tr>
              <a:tr h="857250"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647D8"/>
                          </a:solidFill>
                          <a:latin typeface="Sora"/>
                          <a:ea typeface="Sora"/>
                          <a:cs typeface="Sora"/>
                        </a:rPr>
                        <a:t>Playground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7D8FC"/>
                      </a:solidFill>
                      <a:prstDash val="solid"/>
                    </a:lnL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How does the agent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respond and act?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Chat exploration, execution traces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and edge-case discovery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Conversations, findings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and candidate cases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647D8"/>
                          </a:solidFill>
                          <a:latin typeface="Sora"/>
                          <a:ea typeface="Sora"/>
                          <a:cs typeface="Sora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7D8FC"/>
                      </a:solidFill>
                      <a:prstDash val="solid"/>
                    </a:lnL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Does the agent meet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expectations in defined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scenarios?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Test suites and cases, execution,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case-level scoring and debugging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Results, failure evidence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and run history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4F7FE"/>
                    </a:solidFill>
                  </a:tcPr>
                </a:tc>
              </a:tr>
              <a:tr h="857250"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647D8"/>
                          </a:solidFill>
                          <a:latin typeface="Sora"/>
                          <a:ea typeface="Sora"/>
                          <a:cs typeface="Sora"/>
                        </a:rPr>
                        <a:t>Evaluation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7D8FC"/>
                      </a:solidFill>
                      <a:prstDash val="solid"/>
                    </a:lnL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Is the release candidate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ready to ship?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Evidence aggregation, release gates,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baseline comparison and review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28575" rIns="95250" bIns="285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Version assessment and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37475C"/>
                          </a:solidFill>
                          <a:latin typeface="Inter"/>
                          <a:ea typeface="Inter"/>
                          <a:cs typeface="Inter"/>
                        </a:rPr>
                        <a:t>release-readiness decision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7D8FC"/>
                      </a:solidFill>
                      <a:prstDash val="solid"/>
                    </a:lnR>
                    <a:lnB w="5715">
                      <a:solidFill>
                        <a:srgbClr val="C7D8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298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3" name="Shape 873">
            <a:extLst xmlns:a="http://schemas.openxmlformats.org/drawingml/2006/main">
              <a:ext uri="{FF2B5EF4-FFF2-40B4-BE49-F238E27FC236}">
                <a16:creationId xmlns:a16="http://schemas.microsoft.com/office/drawing/2014/main" id="{4B11D0B0-4064-4D09-AAB6-EA5BCC93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1552873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Sora"/>
                <a:ea typeface="Sora"/>
                <a:cs typeface="Sora"/>
              </a:rPr>
              <a:t>AGENT PLATFORM</a:t>
            </a:r>
            <a:endParaRPr/>
          </a:p>
        </p:txBody>
      </p:sp>
      <p:sp>
        <p:nvSpPr>
          <p:cNvPr id="874" name="Shape 874">
            <a:extLst xmlns:a="http://schemas.openxmlformats.org/drawingml/2006/main">
              <a:ext uri="{FF2B5EF4-FFF2-40B4-BE49-F238E27FC236}">
                <a16:creationId xmlns:a16="http://schemas.microsoft.com/office/drawing/2014/main" id="{574BE8D6-64AF-4DCF-827A-0F1C6728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205" y="314325"/>
            <a:ext cx="55944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spc="75">
                <a:solidFill>
                  <a:srgbClr val="526278"/>
                </a:solidFill>
                <a:latin typeface="Sora"/>
                <a:ea typeface="Sora"/>
                <a:cs typeface="Sora"/>
              </a:rPr>
              <a:t>02 / 03</a:t>
            </a:r>
            <a:endParaRPr/>
          </a:p>
        </p:txBody>
      </p:sp>
      <p:sp>
        <p:nvSpPr>
          <p:cNvPr id="875" name="Shape 875">
            <a:extLst xmlns:a="http://schemas.openxmlformats.org/drawingml/2006/main">
              <a:ext uri="{FF2B5EF4-FFF2-40B4-BE49-F238E27FC236}">
                <a16:creationId xmlns:a16="http://schemas.microsoft.com/office/drawing/2014/main" id="{99FCF30E-0D90-4F18-90F9-6BA842F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defPPr>
            <a:lvl1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1pPr>
            <a:lvl2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2pPr>
            <a:lvl3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3pPr>
            <a:lvl4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4pPr>
            <a:lvl5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5pPr>
            <a:lvl6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6pPr>
            <a:lvl7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7pPr>
            <a:lvl8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8pPr>
            <a:lvl9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ts val="4050"/>
              </a:lnSpc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pPr>
            <a:r>
              <a:rPr sz="3000" b="1" i="0" spc="0">
                <a:solidFill>
                  <a:srgbClr val="182230"/>
                </a:solidFill>
                <a:latin typeface="Sora"/>
                <a:ea typeface="Sora"/>
                <a:cs typeface="Sora"/>
              </a:rPr>
              <a:t>Test: Repeatable Scenario Validation</a:t>
            </a:r>
            <a:endParaRPr/>
          </a:p>
        </p:txBody>
      </p:sp>
      <p:sp>
        <p:nvSpPr>
          <p:cNvPr id="876" name="Shape 876">
            <a:extLst xmlns:a="http://schemas.openxmlformats.org/drawingml/2006/main">
              <a:ext uri="{FF2B5EF4-FFF2-40B4-BE49-F238E27FC236}">
                <a16:creationId xmlns:a16="http://schemas.microsoft.com/office/drawing/2014/main" id="{A246FDC1-4906-42C2-AB95-D77A72A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526278"/>
                </a:solidFill>
                <a:latin typeface="Inter"/>
                <a:ea typeface="Inter"/>
                <a:cs typeface="Inter"/>
              </a:rPr>
              <a:t>Suites organize scenarios. Cases define success. Runs preserve evidence.</a:t>
            </a:r>
            <a:endParaRPr/>
          </a:p>
        </p:txBody>
      </p:sp>
      <p:pic>
        <p:nvPicPr>
          <p:cNvPr id="300" name="Presenton Native Image 7">
            <a:extLst xmlns:a="http://schemas.openxmlformats.org/drawingml/2006/main">
              <a:ext uri="{FF2B5EF4-FFF2-40B4-BE49-F238E27FC236}">
                <a16:creationId xmlns:a16="http://schemas.microsoft.com/office/drawing/2014/main" id="{8910D2BF-CB3F-4895-8117-84EC597E9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2ea64097d46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24025"/>
            <a:ext cx="11125200" cy="2838450"/>
          </a:xfrm>
          <a:prstGeom xmlns:a="http://schemas.openxmlformats.org/drawingml/2006/main" prst="rect">
            <a:avLst/>
          </a:prstGeom>
        </p:spPr>
      </p:pic>
      <p:pic>
        <p:nvPicPr>
          <p:cNvPr id="301" name="Presenton Native Image 8">
            <a:extLst xmlns:a="http://schemas.openxmlformats.org/drawingml/2006/main">
              <a:ext uri="{FF2B5EF4-FFF2-40B4-BE49-F238E27FC236}">
                <a16:creationId xmlns:a16="http://schemas.microsoft.com/office/drawing/2014/main" id="{1722A38C-68EC-4F68-8357-77BC06ABC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39d62b172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43075"/>
            <a:ext cx="11125200" cy="704850"/>
          </a:xfrm>
          <a:prstGeom xmlns:a="http://schemas.openxmlformats.org/drawingml/2006/main" prst="rect">
            <a:avLst/>
          </a:prstGeom>
        </p:spPr>
      </p:pic>
      <p:sp>
        <p:nvSpPr>
          <p:cNvPr id="877" name="Shape 877">
            <a:extLst xmlns:a="http://schemas.openxmlformats.org/drawingml/2006/main">
              <a:ext uri="{FF2B5EF4-FFF2-40B4-BE49-F238E27FC236}">
                <a16:creationId xmlns:a16="http://schemas.microsoft.com/office/drawing/2014/main" id="{EDCE58F2-4867-40A6-A97B-9A2A971F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01</a:t>
            </a:r>
            <a:endParaRPr/>
          </a:p>
        </p:txBody>
      </p:sp>
      <p:sp>
        <p:nvSpPr>
          <p:cNvPr id="878" name="Shape 878">
            <a:extLst xmlns:a="http://schemas.openxmlformats.org/drawingml/2006/main">
              <a:ext uri="{FF2B5EF4-FFF2-40B4-BE49-F238E27FC236}">
                <a16:creationId xmlns:a16="http://schemas.microsoft.com/office/drawing/2014/main" id="{DF02965A-3C73-4BC4-8469-100362B3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0023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Suite management</a:t>
            </a:r>
            <a:endParaRPr/>
          </a:p>
        </p:txBody>
      </p:sp>
      <p:sp>
        <p:nvSpPr>
          <p:cNvPr id="879" name="Shape 879">
            <a:extLst xmlns:a="http://schemas.openxmlformats.org/drawingml/2006/main">
              <a:ext uri="{FF2B5EF4-FFF2-40B4-BE49-F238E27FC236}">
                <a16:creationId xmlns:a16="http://schemas.microsoft.com/office/drawing/2014/main" id="{F23E8D2A-36DF-4B8E-A372-92E9A72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5463"/>
            <a:ext cx="851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Create, import and organize cases.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Set shared checks and default test environments.</a:t>
            </a:r>
            <a:endParaRPr/>
          </a:p>
        </p:txBody>
      </p:sp>
      <p:pic>
        <p:nvPicPr>
          <p:cNvPr id="302" name="Presenton Native Image 9">
            <a:extLst xmlns:a="http://schemas.openxmlformats.org/drawingml/2006/main">
              <a:ext uri="{FF2B5EF4-FFF2-40B4-BE49-F238E27FC236}">
                <a16:creationId xmlns:a16="http://schemas.microsoft.com/office/drawing/2014/main" id="{C4F75594-BEC9-454D-9B2F-4D2A17289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39d62b172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447925"/>
            <a:ext cx="11125200" cy="704850"/>
          </a:xfrm>
          <a:prstGeom xmlns:a="http://schemas.openxmlformats.org/drawingml/2006/main" prst="rect">
            <a:avLst/>
          </a:prstGeom>
        </p:spPr>
      </p:pic>
      <p:sp>
        <p:nvSpPr>
          <p:cNvPr id="880" name="Shape 880">
            <a:extLst xmlns:a="http://schemas.openxmlformats.org/drawingml/2006/main">
              <a:ext uri="{FF2B5EF4-FFF2-40B4-BE49-F238E27FC236}">
                <a16:creationId xmlns:a16="http://schemas.microsoft.com/office/drawing/2014/main" id="{3E384CDA-CE8A-48FD-9E32-529F681E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02</a:t>
            </a:r>
            <a:endParaRPr/>
          </a:p>
        </p:txBody>
      </p:sp>
      <p:sp>
        <p:nvSpPr>
          <p:cNvPr id="881" name="Shape 881">
            <a:extLst xmlns:a="http://schemas.openxmlformats.org/drawingml/2006/main">
              <a:ext uri="{FF2B5EF4-FFF2-40B4-BE49-F238E27FC236}">
                <a16:creationId xmlns:a16="http://schemas.microsoft.com/office/drawing/2014/main" id="{20550D83-88A7-48E6-9FEF-65C8D09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0508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Case definition</a:t>
            </a:r>
            <a:endParaRPr/>
          </a:p>
        </p:txBody>
      </p:sp>
      <p:sp>
        <p:nvSpPr>
          <p:cNvPr id="882" name="Shape 882">
            <a:extLst xmlns:a="http://schemas.openxmlformats.org/drawingml/2006/main">
              <a:ext uri="{FF2B5EF4-FFF2-40B4-BE49-F238E27FC236}">
                <a16:creationId xmlns:a16="http://schemas.microsoft.com/office/drawing/2014/main" id="{A9AF4DFC-4987-49BC-9386-857E48E6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0313"/>
            <a:ext cx="851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Define inputs and success criteria. Add files, history, initial state or multi-turn steps.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Use rules, model graders or human review.</a:t>
            </a:r>
            <a:endParaRPr/>
          </a:p>
        </p:txBody>
      </p:sp>
      <p:pic>
        <p:nvPicPr>
          <p:cNvPr id="303" name="Presenton Native Image 10">
            <a:extLst xmlns:a="http://schemas.openxmlformats.org/drawingml/2006/main">
              <a:ext uri="{FF2B5EF4-FFF2-40B4-BE49-F238E27FC236}">
                <a16:creationId xmlns:a16="http://schemas.microsoft.com/office/drawing/2014/main" id="{6124A719-C16C-4EB5-8237-FD2B51937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39d62b172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152775"/>
            <a:ext cx="11125200" cy="704850"/>
          </a:xfrm>
          <a:prstGeom xmlns:a="http://schemas.openxmlformats.org/drawingml/2006/main" prst="rect">
            <a:avLst/>
          </a:prstGeom>
        </p:spPr>
      </p:pic>
      <p:sp>
        <p:nvSpPr>
          <p:cNvPr id="883" name="Shape 883">
            <a:extLst xmlns:a="http://schemas.openxmlformats.org/drawingml/2006/main">
              <a:ext uri="{FF2B5EF4-FFF2-40B4-BE49-F238E27FC236}">
                <a16:creationId xmlns:a16="http://schemas.microsoft.com/office/drawing/2014/main" id="{5E4B1ADA-3261-41E8-BC19-E68462EF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03</a:t>
            </a:r>
            <a:endParaRPr/>
          </a:p>
        </p:txBody>
      </p:sp>
      <p:sp>
        <p:nvSpPr>
          <p:cNvPr id="884" name="Shape 884">
            <a:extLst xmlns:a="http://schemas.openxmlformats.org/drawingml/2006/main">
              <a:ext uri="{FF2B5EF4-FFF2-40B4-BE49-F238E27FC236}">
                <a16:creationId xmlns:a16="http://schemas.microsoft.com/office/drawing/2014/main" id="{CEF62C7A-A600-4589-846C-3349D8E1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0993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Test execution</a:t>
            </a:r>
            <a:endParaRPr/>
          </a:p>
        </p:txBody>
      </p:sp>
      <p:sp>
        <p:nvSpPr>
          <p:cNvPr id="885" name="Shape 885">
            <a:extLst xmlns:a="http://schemas.openxmlformats.org/drawingml/2006/main">
              <a:ext uri="{FF2B5EF4-FFF2-40B4-BE49-F238E27FC236}">
                <a16:creationId xmlns:a16="http://schemas.microsoft.com/office/drawing/2014/main" id="{C39FF496-1496-4D86-9A01-6FBD4DDC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5163"/>
            <a:ext cx="851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Choose the agent version, scope, environment and repeat count.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Freeze the configuration and test cases when the run starts.</a:t>
            </a:r>
            <a:endParaRPr/>
          </a:p>
        </p:txBody>
      </p:sp>
      <p:pic>
        <p:nvPicPr>
          <p:cNvPr id="304" name="Presenton Native Image 11">
            <a:extLst xmlns:a="http://schemas.openxmlformats.org/drawingml/2006/main">
              <a:ext uri="{FF2B5EF4-FFF2-40B4-BE49-F238E27FC236}">
                <a16:creationId xmlns:a16="http://schemas.microsoft.com/office/drawing/2014/main" id="{914BB9B7-0177-45A2-81C9-108E0994D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39d62b172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857625"/>
            <a:ext cx="11125200" cy="704850"/>
          </a:xfrm>
          <a:prstGeom xmlns:a="http://schemas.openxmlformats.org/drawingml/2006/main" prst="rect">
            <a:avLst/>
          </a:prstGeom>
        </p:spPr>
      </p:pic>
      <p:sp>
        <p:nvSpPr>
          <p:cNvPr id="886" name="Shape 886">
            <a:extLst xmlns:a="http://schemas.openxmlformats.org/drawingml/2006/main">
              <a:ext uri="{FF2B5EF4-FFF2-40B4-BE49-F238E27FC236}">
                <a16:creationId xmlns:a16="http://schemas.microsoft.com/office/drawing/2014/main" id="{F7E33771-2264-4AB4-B436-95B71B73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04</a:t>
            </a:r>
            <a:endParaRPr/>
          </a:p>
        </p:txBody>
      </p:sp>
      <p:sp>
        <p:nvSpPr>
          <p:cNvPr id="887" name="Shape 887">
            <a:extLst xmlns:a="http://schemas.openxmlformats.org/drawingml/2006/main">
              <a:ext uri="{FF2B5EF4-FFF2-40B4-BE49-F238E27FC236}">
                <a16:creationId xmlns:a16="http://schemas.microsoft.com/office/drawing/2014/main" id="{804287B3-4386-452B-9016-0757BCD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1478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Result analysis</a:t>
            </a:r>
            <a:endParaRPr/>
          </a:p>
        </p:txBody>
      </p:sp>
      <p:sp>
        <p:nvSpPr>
          <p:cNvPr id="888" name="Shape 888">
            <a:extLst xmlns:a="http://schemas.openxmlformats.org/drawingml/2006/main">
              <a:ext uri="{FF2B5EF4-FFF2-40B4-BE49-F238E27FC236}">
                <a16:creationId xmlns:a16="http://schemas.microsoft.com/office/drawing/2014/main" id="{A70AE1E4-0D70-4786-B383-55DED42D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10013"/>
            <a:ext cx="851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Inspect scores, failure evidence, traces, artifacts, latency and cost.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Locate problems and rerun tests.</a:t>
            </a:r>
            <a:endParaRPr/>
          </a:p>
        </p:txBody>
      </p:sp>
      <p:sp>
        <p:nvSpPr>
          <p:cNvPr id="889" name="Shape 889">
            <a:extLst xmlns:a="http://schemas.openxmlformats.org/drawingml/2006/main">
              <a:ext uri="{FF2B5EF4-FFF2-40B4-BE49-F238E27FC236}">
                <a16:creationId xmlns:a16="http://schemas.microsoft.com/office/drawing/2014/main" id="{8C3845F1-E562-475C-9572-83DABB2A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1647D8"/>
                </a:solidFill>
                <a:latin typeface="Inter"/>
                <a:ea typeface="Inter"/>
                <a:cs typeface="Inter"/>
              </a:rPr>
              <a:t>Pages and workflow</a:t>
            </a:r>
            <a:endParaRPr/>
          </a:p>
        </p:txBody>
      </p:sp>
      <p:sp>
        <p:nvSpPr>
          <p:cNvPr id="890" name="Shape 890">
            <a:extLst xmlns:a="http://schemas.openxmlformats.org/drawingml/2006/main">
              <a:ext uri="{FF2B5EF4-FFF2-40B4-BE49-F238E27FC236}">
                <a16:creationId xmlns:a16="http://schemas.microsoft.com/office/drawing/2014/main" id="{508542D0-03A5-414E-87A4-ABD0AE4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1</a:t>
            </a:r>
            <a:endParaRPr/>
          </a:p>
        </p:txBody>
      </p:sp>
      <p:sp>
        <p:nvSpPr>
          <p:cNvPr id="891" name="Shape 891">
            <a:extLst xmlns:a="http://schemas.openxmlformats.org/drawingml/2006/main">
              <a:ext uri="{FF2B5EF4-FFF2-40B4-BE49-F238E27FC236}">
                <a16:creationId xmlns:a16="http://schemas.microsoft.com/office/drawing/2014/main" id="{1F6E523A-A6E3-40EE-9A53-68295EF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Test suites</a:t>
            </a:r>
            <a:endParaRPr/>
          </a:p>
        </p:txBody>
      </p:sp>
      <p:pic>
        <p:nvPicPr>
          <p:cNvPr id="305" name="Presenton Native Image 12">
            <a:extLst xmlns:a="http://schemas.openxmlformats.org/drawingml/2006/main">
              <a:ext uri="{FF2B5EF4-FFF2-40B4-BE49-F238E27FC236}">
                <a16:creationId xmlns:a16="http://schemas.microsoft.com/office/drawing/2014/main" id="{65ED11FF-3790-469A-94B5-F35A45C55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5afe441aa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81275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92" name="Shape 892">
            <a:extLst xmlns:a="http://schemas.openxmlformats.org/drawingml/2006/main">
              <a:ext uri="{FF2B5EF4-FFF2-40B4-BE49-F238E27FC236}">
                <a16:creationId xmlns:a16="http://schemas.microsoft.com/office/drawing/2014/main" id="{5E339C17-C223-4272-BD5A-C82252B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2</a:t>
            </a:r>
            <a:endParaRPr/>
          </a:p>
        </p:txBody>
      </p:sp>
      <p:sp>
        <p:nvSpPr>
          <p:cNvPr id="893" name="Shape 893">
            <a:extLst xmlns:a="http://schemas.openxmlformats.org/drawingml/2006/main">
              <a:ext uri="{FF2B5EF4-FFF2-40B4-BE49-F238E27FC236}">
                <a16:creationId xmlns:a16="http://schemas.microsoft.com/office/drawing/2014/main" id="{4ABCE3B5-D5D6-454F-BC71-B9CFB7C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Case editor</a:t>
            </a:r>
            <a:endParaRPr/>
          </a:p>
        </p:txBody>
      </p:sp>
      <p:pic>
        <p:nvPicPr>
          <p:cNvPr id="306" name="Presenton Native Image 13">
            <a:extLst xmlns:a="http://schemas.openxmlformats.org/drawingml/2006/main">
              <a:ext uri="{FF2B5EF4-FFF2-40B4-BE49-F238E27FC236}">
                <a16:creationId xmlns:a16="http://schemas.microsoft.com/office/drawing/2014/main" id="{D0D77106-7CAD-4C74-959A-F5636F5E7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5afe441aa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94" name="Shape 894">
            <a:extLst xmlns:a="http://schemas.openxmlformats.org/drawingml/2006/main">
              <a:ext uri="{FF2B5EF4-FFF2-40B4-BE49-F238E27FC236}">
                <a16:creationId xmlns:a16="http://schemas.microsoft.com/office/drawing/2014/main" id="{C6F361A4-4C00-4FBB-9E0B-7FD5564A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3</a:t>
            </a:r>
            <a:endParaRPr/>
          </a:p>
        </p:txBody>
      </p:sp>
      <p:sp>
        <p:nvSpPr>
          <p:cNvPr id="895" name="Shape 895">
            <a:extLst xmlns:a="http://schemas.openxmlformats.org/drawingml/2006/main">
              <a:ext uri="{FF2B5EF4-FFF2-40B4-BE49-F238E27FC236}">
                <a16:creationId xmlns:a16="http://schemas.microsoft.com/office/drawing/2014/main" id="{EF6F89C8-C006-46CF-8512-AC7D054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Run setup</a:t>
            </a:r>
            <a:endParaRPr/>
          </a:p>
        </p:txBody>
      </p:sp>
      <p:pic>
        <p:nvPicPr>
          <p:cNvPr id="307" name="Presenton Native Image 14">
            <a:extLst xmlns:a="http://schemas.openxmlformats.org/drawingml/2006/main">
              <a:ext uri="{FF2B5EF4-FFF2-40B4-BE49-F238E27FC236}">
                <a16:creationId xmlns:a16="http://schemas.microsoft.com/office/drawing/2014/main" id="{7FF844CB-AAD5-46CC-B192-502A21BF3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5afe441aa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4225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96" name="Shape 896">
            <a:extLst xmlns:a="http://schemas.openxmlformats.org/drawingml/2006/main">
              <a:ext uri="{FF2B5EF4-FFF2-40B4-BE49-F238E27FC236}">
                <a16:creationId xmlns:a16="http://schemas.microsoft.com/office/drawing/2014/main" id="{CE7B1CD7-38A2-4AE5-9904-9FE73CD9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4</a:t>
            </a:r>
            <a:endParaRPr/>
          </a:p>
        </p:txBody>
      </p:sp>
      <p:sp>
        <p:nvSpPr>
          <p:cNvPr id="897" name="Shape 897">
            <a:extLst xmlns:a="http://schemas.openxmlformats.org/drawingml/2006/main">
              <a:ext uri="{FF2B5EF4-FFF2-40B4-BE49-F238E27FC236}">
                <a16:creationId xmlns:a16="http://schemas.microsoft.com/office/drawing/2014/main" id="{608E220B-9F82-4C86-9B1E-594466B6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Run results</a:t>
            </a:r>
            <a:endParaRPr/>
          </a:p>
        </p:txBody>
      </p:sp>
      <p:pic>
        <p:nvPicPr>
          <p:cNvPr id="308" name="Presenton Native Image 15">
            <a:extLst xmlns:a="http://schemas.openxmlformats.org/drawingml/2006/main">
              <a:ext uri="{FF2B5EF4-FFF2-40B4-BE49-F238E27FC236}">
                <a16:creationId xmlns:a16="http://schemas.microsoft.com/office/drawing/2014/main" id="{0378182B-B9CC-48F7-ABDC-DBDB239E81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5afe441aa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898" name="Shape 898">
            <a:extLst xmlns:a="http://schemas.openxmlformats.org/drawingml/2006/main">
              <a:ext uri="{FF2B5EF4-FFF2-40B4-BE49-F238E27FC236}">
                <a16:creationId xmlns:a16="http://schemas.microsoft.com/office/drawing/2014/main" id="{77E13804-5664-4738-831A-A8D47622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5</a:t>
            </a:r>
            <a:endParaRPr/>
          </a:p>
        </p:txBody>
      </p:sp>
      <p:sp>
        <p:nvSpPr>
          <p:cNvPr id="899" name="Shape 899">
            <a:extLst xmlns:a="http://schemas.openxmlformats.org/drawingml/2006/main">
              <a:ext uri="{FF2B5EF4-FFF2-40B4-BE49-F238E27FC236}">
                <a16:creationId xmlns:a16="http://schemas.microsoft.com/office/drawing/2014/main" id="{E21DB32D-1286-40C7-BD37-5F0B16B4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Evidence &amp; debug</a:t>
            </a:r>
            <a:endParaRPr/>
          </a:p>
        </p:txBody>
      </p:sp>
      <p:sp>
        <p:nvSpPr>
          <p:cNvPr id="900" name="Shape 900">
            <a:extLst xmlns:a="http://schemas.openxmlformats.org/drawingml/2006/main">
              <a:ext uri="{FF2B5EF4-FFF2-40B4-BE49-F238E27FC236}">
                <a16:creationId xmlns:a16="http://schemas.microsoft.com/office/drawing/2014/main" id="{DC341CA9-195F-4BE0-8555-813FF84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526278"/>
                </a:solidFill>
                <a:latin typeface="Inter"/>
                <a:ea typeface="Inter"/>
                <a:cs typeface="Inter"/>
              </a:rPr>
              <a:t>Use drawers for case editing and run setup. Expand complex scenarios. Stream results and drill into failures.</a:t>
            </a:r>
            <a:endParaRPr/>
          </a:p>
        </p:txBody>
      </p:sp>
      <p:pic>
        <p:nvPicPr>
          <p:cNvPr id="309" name="Presenton Native Image 16">
            <a:extLst xmlns:a="http://schemas.openxmlformats.org/drawingml/2006/main">
              <a:ext uri="{FF2B5EF4-FFF2-40B4-BE49-F238E27FC236}">
                <a16:creationId xmlns:a16="http://schemas.microsoft.com/office/drawing/2014/main" id="{97F5F92F-B5AE-4D62-A15F-CA263F82D3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6c07d92ae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5924550"/>
            <a:ext cx="11125200" cy="676275"/>
          </a:xfrm>
          <a:prstGeom xmlns:a="http://schemas.openxmlformats.org/drawingml/2006/main" prst="rect">
            <a:avLst/>
          </a:prstGeom>
        </p:spPr>
      </p:pic>
      <p:sp>
        <p:nvSpPr>
          <p:cNvPr id="901" name="Shape 901">
            <a:extLst xmlns:a="http://schemas.openxmlformats.org/drawingml/2006/main">
              <a:ext uri="{FF2B5EF4-FFF2-40B4-BE49-F238E27FC236}">
                <a16:creationId xmlns:a16="http://schemas.microsoft.com/office/drawing/2014/main" id="{E44680B9-1DEF-4087-B43F-79200D60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>
                <a:latin typeface="Inter"/>
                <a:ea typeface="Inter"/>
                <a:cs typeface="Inter"/>
              </a:defRPr>
            </a:defPPr>
            <a:lvl1pPr>
              <a:buNone/>
              <a:defRPr sz="1500">
                <a:latin typeface="Inter"/>
                <a:ea typeface="Inter"/>
                <a:cs typeface="Inter"/>
              </a:defRPr>
            </a:lvl1pPr>
            <a:lvl2pPr>
              <a:buNone/>
              <a:defRPr sz="1500">
                <a:latin typeface="Inter"/>
                <a:ea typeface="Inter"/>
                <a:cs typeface="Inter"/>
              </a:defRPr>
            </a:lvl2pPr>
            <a:lvl3pPr>
              <a:buNone/>
              <a:defRPr sz="1500">
                <a:latin typeface="Inter"/>
                <a:ea typeface="Inter"/>
                <a:cs typeface="Inter"/>
              </a:defRPr>
            </a:lvl3pPr>
            <a:lvl4pPr>
              <a:buNone/>
              <a:defRPr sz="1500">
                <a:latin typeface="Inter"/>
                <a:ea typeface="Inter"/>
                <a:cs typeface="Inter"/>
              </a:defRPr>
            </a:lvl4pPr>
            <a:lvl5pPr>
              <a:buNone/>
              <a:defRPr sz="1500">
                <a:latin typeface="Inter"/>
                <a:ea typeface="Inter"/>
                <a:cs typeface="Inter"/>
              </a:defRPr>
            </a:lvl5pPr>
            <a:lvl6pPr>
              <a:buNone/>
              <a:defRPr sz="1500">
                <a:latin typeface="Inter"/>
                <a:ea typeface="Inter"/>
                <a:cs typeface="Inter"/>
              </a:defRPr>
            </a:lvl6pPr>
            <a:lvl7pPr>
              <a:buNone/>
              <a:defRPr sz="1500">
                <a:latin typeface="Inter"/>
                <a:ea typeface="Inter"/>
                <a:cs typeface="Inter"/>
              </a:defRPr>
            </a:lvl7pPr>
            <a:lvl8pPr>
              <a:buNone/>
              <a:defRPr sz="1500">
                <a:latin typeface="Inter"/>
                <a:ea typeface="Inter"/>
                <a:cs typeface="Inter"/>
              </a:defRPr>
            </a:lvl8pPr>
            <a:lvl9pPr>
              <a:buNone/>
              <a:defRPr sz="1500"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647D8"/>
                </a:solidFill>
                <a:latin typeface="Inter"/>
                <a:ea typeface="Inter"/>
                <a:cs typeface="Inter"/>
              </a:rPr>
              <a:t>Separate statuses  </a:t>
            </a:r>
            <a:r>
              <a:rPr sz="1500" b="0">
                <a:solidFill>
                  <a:srgbClr val="37475C"/>
                </a:solidFill>
                <a:latin typeface="Inter"/>
                <a:ea typeface="Inter"/>
                <a:cs typeface="Inter"/>
              </a:rPr>
              <a:t>Completion is not success. Track task failures, execution errors and grading errors separately.</a:t>
            </a:r>
          </a:p>
        </p:txBody>
      </p:sp>
      <p:sp>
        <p:nvSpPr>
          <p:cNvPr id="902" name="Shape 902">
            <a:extLst xmlns:a="http://schemas.openxmlformats.org/drawingml/2006/main">
              <a:ext uri="{FF2B5EF4-FFF2-40B4-BE49-F238E27FC236}">
                <a16:creationId xmlns:a16="http://schemas.microsoft.com/office/drawing/2014/main" id="{96A8B4C5-6128-4D66-9B2E-B83EBBF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>
                <a:latin typeface="Inter"/>
                <a:ea typeface="Inter"/>
                <a:cs typeface="Inter"/>
              </a:defRPr>
            </a:defPPr>
            <a:lvl1pPr>
              <a:buNone/>
              <a:defRPr sz="1500">
                <a:latin typeface="Inter"/>
                <a:ea typeface="Inter"/>
                <a:cs typeface="Inter"/>
              </a:defRPr>
            </a:lvl1pPr>
            <a:lvl2pPr>
              <a:buNone/>
              <a:defRPr sz="1500">
                <a:latin typeface="Inter"/>
                <a:ea typeface="Inter"/>
                <a:cs typeface="Inter"/>
              </a:defRPr>
            </a:lvl2pPr>
            <a:lvl3pPr>
              <a:buNone/>
              <a:defRPr sz="1500">
                <a:latin typeface="Inter"/>
                <a:ea typeface="Inter"/>
                <a:cs typeface="Inter"/>
              </a:defRPr>
            </a:lvl3pPr>
            <a:lvl4pPr>
              <a:buNone/>
              <a:defRPr sz="1500">
                <a:latin typeface="Inter"/>
                <a:ea typeface="Inter"/>
                <a:cs typeface="Inter"/>
              </a:defRPr>
            </a:lvl4pPr>
            <a:lvl5pPr>
              <a:buNone/>
              <a:defRPr sz="1500">
                <a:latin typeface="Inter"/>
                <a:ea typeface="Inter"/>
                <a:cs typeface="Inter"/>
              </a:defRPr>
            </a:lvl5pPr>
            <a:lvl6pPr>
              <a:buNone/>
              <a:defRPr sz="1500">
                <a:latin typeface="Inter"/>
                <a:ea typeface="Inter"/>
                <a:cs typeface="Inter"/>
              </a:defRPr>
            </a:lvl6pPr>
            <a:lvl7pPr>
              <a:buNone/>
              <a:defRPr sz="1500">
                <a:latin typeface="Inter"/>
                <a:ea typeface="Inter"/>
                <a:cs typeface="Inter"/>
              </a:defRPr>
            </a:lvl7pPr>
            <a:lvl8pPr>
              <a:buNone/>
              <a:defRPr sz="1500">
                <a:latin typeface="Inter"/>
                <a:ea typeface="Inter"/>
                <a:cs typeface="Inter"/>
              </a:defRPr>
            </a:lvl8pPr>
            <a:lvl9pPr>
              <a:buNone/>
              <a:defRPr sz="1500"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647D8"/>
                </a:solidFill>
                <a:latin typeface="Inter"/>
                <a:ea typeface="Inter"/>
                <a:cs typeface="Inter"/>
              </a:rPr>
              <a:t>Preserve history  </a:t>
            </a:r>
            <a:r>
              <a:rPr sz="1500" b="0">
                <a:solidFill>
                  <a:srgbClr val="37475C"/>
                </a:solidFill>
                <a:latin typeface="Inter"/>
                <a:ea typeface="Inter"/>
                <a:cs typeface="Inter"/>
              </a:rPr>
              <a:t>Each run captures a snapshot. Reruns create new records and preserve earlier results.</a:t>
            </a:r>
          </a:p>
        </p:txBody>
      </p:sp>
    </p:spTree>
    <p:extLst>
      <p:ext uri="{BB962C8B-B14F-4D97-AF65-F5344CB8AC3E}">
        <p14:creationId xmlns:p14="http://schemas.microsoft.com/office/powerpoint/2010/main" val="910554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3" name="Shape 903">
            <a:extLst xmlns:a="http://schemas.openxmlformats.org/drawingml/2006/main">
              <a:ext uri="{FF2B5EF4-FFF2-40B4-BE49-F238E27FC236}">
                <a16:creationId xmlns:a16="http://schemas.microsoft.com/office/drawing/2014/main" id="{463B3E15-816C-4763-9A9F-1BC8E1B5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1552873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Sora"/>
                <a:ea typeface="Sora"/>
                <a:cs typeface="Sora"/>
              </a:rPr>
              <a:t>AGENT PLATFORM</a:t>
            </a:r>
            <a:endParaRPr/>
          </a:p>
        </p:txBody>
      </p:sp>
      <p:sp>
        <p:nvSpPr>
          <p:cNvPr id="904" name="Shape 904">
            <a:extLst xmlns:a="http://schemas.openxmlformats.org/drawingml/2006/main">
              <a:ext uri="{FF2B5EF4-FFF2-40B4-BE49-F238E27FC236}">
                <a16:creationId xmlns:a16="http://schemas.microsoft.com/office/drawing/2014/main" id="{C8A4880B-43D4-4E12-86BF-3ABDAEAE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652" y="314325"/>
            <a:ext cx="558998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spc="75">
                <a:solidFill>
                  <a:srgbClr val="526278"/>
                </a:solidFill>
                <a:latin typeface="Sora"/>
                <a:ea typeface="Sora"/>
                <a:cs typeface="Sora"/>
              </a:rPr>
              <a:t>03 / 03</a:t>
            </a:r>
            <a:endParaRPr/>
          </a:p>
        </p:txBody>
      </p:sp>
      <p:sp>
        <p:nvSpPr>
          <p:cNvPr id="905" name="Shape 905">
            <a:extLst xmlns:a="http://schemas.openxmlformats.org/drawingml/2006/main">
              <a:ext uri="{FF2B5EF4-FFF2-40B4-BE49-F238E27FC236}">
                <a16:creationId xmlns:a16="http://schemas.microsoft.com/office/drawing/2014/main" id="{9D4EBFD7-1843-44DC-B858-396F856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defPPr>
            <a:lvl1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1pPr>
            <a:lvl2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2pPr>
            <a:lvl3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3pPr>
            <a:lvl4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4pPr>
            <a:lvl5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5pPr>
            <a:lvl6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6pPr>
            <a:lvl7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7pPr>
            <a:lvl8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8pPr>
            <a:lvl9pPr algn="l"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ts val="4050"/>
              </a:lnSpc>
              <a:buNone/>
              <a:defRPr sz="3000" b="1">
                <a:solidFill>
                  <a:srgbClr val="182230"/>
                </a:solidFill>
                <a:latin typeface="Sora"/>
                <a:ea typeface="Sora"/>
                <a:cs typeface="Sora"/>
              </a:defRPr>
            </a:pPr>
            <a:r>
              <a:rPr sz="3000" b="1" i="0" spc="0">
                <a:solidFill>
                  <a:srgbClr val="182230"/>
                </a:solidFill>
                <a:latin typeface="Sora"/>
                <a:ea typeface="Sora"/>
                <a:cs typeface="Sora"/>
              </a:rPr>
              <a:t>Evaluation: Release Readiness</a:t>
            </a:r>
            <a:endParaRPr/>
          </a:p>
        </p:txBody>
      </p:sp>
      <p:sp>
        <p:nvSpPr>
          <p:cNvPr id="906" name="Shape 906">
            <a:extLst xmlns:a="http://schemas.openxmlformats.org/drawingml/2006/main">
              <a:ext uri="{FF2B5EF4-FFF2-40B4-BE49-F238E27FC236}">
                <a16:creationId xmlns:a16="http://schemas.microsoft.com/office/drawing/2014/main" id="{CDFF2A5D-5ED0-4853-83BB-C497069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>
                <a:solidFill>
                  <a:srgbClr val="526278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526278"/>
                </a:solidFill>
                <a:latin typeface="Inter"/>
                <a:ea typeface="Inter"/>
                <a:cs typeface="Inter"/>
              </a:rPr>
              <a:t>Freeze the candidate and criteria, then match evidence and check each release gate.</a:t>
            </a:r>
            <a:endParaRPr/>
          </a:p>
        </p:txBody>
      </p:sp>
      <p:pic>
        <p:nvPicPr>
          <p:cNvPr id="310" name="Presenton Native Image 17">
            <a:extLst xmlns:a="http://schemas.openxmlformats.org/drawingml/2006/main">
              <a:ext uri="{FF2B5EF4-FFF2-40B4-BE49-F238E27FC236}">
                <a16:creationId xmlns:a16="http://schemas.microsoft.com/office/drawing/2014/main" id="{4D62D8B6-11CB-422E-96F3-4FE9E5F28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3621485394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04975"/>
            <a:ext cx="11125200" cy="2533650"/>
          </a:xfrm>
          <a:prstGeom xmlns:a="http://schemas.openxmlformats.org/drawingml/2006/main" prst="rect">
            <a:avLst/>
          </a:prstGeom>
        </p:spPr>
      </p:pic>
      <p:pic>
        <p:nvPicPr>
          <p:cNvPr id="311" name="Presenton Native Image 18">
            <a:extLst xmlns:a="http://schemas.openxmlformats.org/drawingml/2006/main">
              <a:ext uri="{FF2B5EF4-FFF2-40B4-BE49-F238E27FC236}">
                <a16:creationId xmlns:a16="http://schemas.microsoft.com/office/drawing/2014/main" id="{9B6405CE-52E5-4547-9A4B-1217A9B59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f56dac7e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24025"/>
            <a:ext cx="11125200" cy="628650"/>
          </a:xfrm>
          <a:prstGeom xmlns:a="http://schemas.openxmlformats.org/drawingml/2006/main" prst="rect">
            <a:avLst/>
          </a:prstGeom>
        </p:spPr>
      </p:pic>
      <p:sp>
        <p:nvSpPr>
          <p:cNvPr id="907" name="Shape 907">
            <a:extLst xmlns:a="http://schemas.openxmlformats.org/drawingml/2006/main">
              <a:ext uri="{FF2B5EF4-FFF2-40B4-BE49-F238E27FC236}">
                <a16:creationId xmlns:a16="http://schemas.microsoft.com/office/drawing/2014/main" id="{5ED950E4-4D21-42D2-8F7C-E2626513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01</a:t>
            </a:r>
            <a:endParaRPr/>
          </a:p>
        </p:txBody>
      </p:sp>
      <p:sp>
        <p:nvSpPr>
          <p:cNvPr id="908" name="Shape 908">
            <a:extLst xmlns:a="http://schemas.openxmlformats.org/drawingml/2006/main">
              <a:ext uri="{FF2B5EF4-FFF2-40B4-BE49-F238E27FC236}">
                <a16:creationId xmlns:a16="http://schemas.microsoft.com/office/drawing/2014/main" id="{6D6D5B35-BB1B-49B7-B47E-52F39AA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4308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Define criteria</a:t>
            </a:r>
            <a:endParaRPr/>
          </a:p>
        </p:txBody>
      </p:sp>
      <p:sp>
        <p:nvSpPr>
          <p:cNvPr id="909" name="Shape 909">
            <a:extLst xmlns:a="http://schemas.openxmlformats.org/drawingml/2006/main">
              <a:ext uri="{FF2B5EF4-FFF2-40B4-BE49-F238E27FC236}">
                <a16:creationId xmlns:a16="http://schemas.microsoft.com/office/drawing/2014/main" id="{6CD78DB1-DE8E-4502-B864-A4AECA7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47838"/>
            <a:ext cx="851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Freeze the candidate, required tests, environments and repeat counts.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Define release gates and the comparison baseline.</a:t>
            </a:r>
            <a:endParaRPr/>
          </a:p>
        </p:txBody>
      </p:sp>
      <p:pic>
        <p:nvPicPr>
          <p:cNvPr id="312" name="Presenton Native Image 19">
            <a:extLst xmlns:a="http://schemas.openxmlformats.org/drawingml/2006/main">
              <a:ext uri="{FF2B5EF4-FFF2-40B4-BE49-F238E27FC236}">
                <a16:creationId xmlns:a16="http://schemas.microsoft.com/office/drawing/2014/main" id="{7FB23413-B425-4AAD-A26C-6A33929B5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f56dac7e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352675"/>
            <a:ext cx="11125200" cy="628650"/>
          </a:xfrm>
          <a:prstGeom xmlns:a="http://schemas.openxmlformats.org/drawingml/2006/main" prst="rect">
            <a:avLst/>
          </a:prstGeom>
        </p:spPr>
      </p:pic>
      <p:sp>
        <p:nvSpPr>
          <p:cNvPr id="910" name="Shape 910">
            <a:extLst xmlns:a="http://schemas.openxmlformats.org/drawingml/2006/main">
              <a:ext uri="{FF2B5EF4-FFF2-40B4-BE49-F238E27FC236}">
                <a16:creationId xmlns:a16="http://schemas.microsoft.com/office/drawing/2014/main" id="{6CC63B75-DF8B-46C2-A417-0C357308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02</a:t>
            </a:r>
            <a:endParaRPr/>
          </a:p>
        </p:txBody>
      </p:sp>
      <p:sp>
        <p:nvSpPr>
          <p:cNvPr id="911" name="Shape 911">
            <a:extLst xmlns:a="http://schemas.openxmlformats.org/drawingml/2006/main">
              <a:ext uri="{FF2B5EF4-FFF2-40B4-BE49-F238E27FC236}">
                <a16:creationId xmlns:a16="http://schemas.microsoft.com/office/drawing/2014/main" id="{EFD72D24-76EC-4BCE-AC28-15ED7E1D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7173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Match evidence</a:t>
            </a:r>
            <a:endParaRPr/>
          </a:p>
        </p:txBody>
      </p:sp>
      <p:sp>
        <p:nvSpPr>
          <p:cNvPr id="912" name="Shape 912">
            <a:extLst xmlns:a="http://schemas.openxmlformats.org/drawingml/2006/main">
              <a:ext uri="{FF2B5EF4-FFF2-40B4-BE49-F238E27FC236}">
                <a16:creationId xmlns:a16="http://schemas.microsoft.com/office/drawing/2014/main" id="{17E0FD4D-1465-4EE5-888D-6CE6D4DB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76488"/>
            <a:ext cx="851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Use compatible Test runs, check coverage and retain every required attempt.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Avoid cherry-picking scores or counting evidence twice.</a:t>
            </a:r>
            <a:endParaRPr/>
          </a:p>
        </p:txBody>
      </p:sp>
      <p:pic>
        <p:nvPicPr>
          <p:cNvPr id="313" name="Presenton Native Image 20">
            <a:extLst xmlns:a="http://schemas.openxmlformats.org/drawingml/2006/main">
              <a:ext uri="{FF2B5EF4-FFF2-40B4-BE49-F238E27FC236}">
                <a16:creationId xmlns:a16="http://schemas.microsoft.com/office/drawing/2014/main" id="{B01307CE-EDF3-48BE-8D7A-109AF7A2E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f56dac7e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981325"/>
            <a:ext cx="11125200" cy="628650"/>
          </a:xfrm>
          <a:prstGeom xmlns:a="http://schemas.openxmlformats.org/drawingml/2006/main" prst="rect">
            <a:avLst/>
          </a:prstGeom>
        </p:spPr>
      </p:pic>
      <p:sp>
        <p:nvSpPr>
          <p:cNvPr id="913" name="Shape 913">
            <a:extLst xmlns:a="http://schemas.openxmlformats.org/drawingml/2006/main">
              <a:ext uri="{FF2B5EF4-FFF2-40B4-BE49-F238E27FC236}">
                <a16:creationId xmlns:a16="http://schemas.microsoft.com/office/drawing/2014/main" id="{283C287A-0BD0-42F2-BCAD-F5B7E975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03</a:t>
            </a:r>
            <a:endParaRPr/>
          </a:p>
        </p:txBody>
      </p:sp>
      <p:sp>
        <p:nvSpPr>
          <p:cNvPr id="914" name="Shape 914">
            <a:extLst xmlns:a="http://schemas.openxmlformats.org/drawingml/2006/main">
              <a:ext uri="{FF2B5EF4-FFF2-40B4-BE49-F238E27FC236}">
                <a16:creationId xmlns:a16="http://schemas.microsoft.com/office/drawing/2014/main" id="{1859A90C-DBDF-4763-AD4C-620CCC3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0038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Check gates</a:t>
            </a:r>
            <a:endParaRPr/>
          </a:p>
        </p:txBody>
      </p:sp>
      <p:sp>
        <p:nvSpPr>
          <p:cNvPr id="915" name="Shape 915">
            <a:extLst xmlns:a="http://schemas.openxmlformats.org/drawingml/2006/main">
              <a:ext uri="{FF2B5EF4-FFF2-40B4-BE49-F238E27FC236}">
                <a16:creationId xmlns:a16="http://schemas.microsoft.com/office/drawing/2014/main" id="{B84A4140-D395-48DC-A108-E241A3D7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5138"/>
            <a:ext cx="851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Assess critical constraints, task quality, regressions, latency and cost.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Flag missing tests and pending reviews.</a:t>
            </a:r>
            <a:endParaRPr/>
          </a:p>
        </p:txBody>
      </p:sp>
      <p:pic>
        <p:nvPicPr>
          <p:cNvPr id="314" name="Presenton Native Image 21">
            <a:extLst xmlns:a="http://schemas.openxmlformats.org/drawingml/2006/main">
              <a:ext uri="{FF2B5EF4-FFF2-40B4-BE49-F238E27FC236}">
                <a16:creationId xmlns:a16="http://schemas.microsoft.com/office/drawing/2014/main" id="{C430B73D-D151-48D0-9C2C-7240CBC66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f56dac7e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609975"/>
            <a:ext cx="11125200" cy="628650"/>
          </a:xfrm>
          <a:prstGeom xmlns:a="http://schemas.openxmlformats.org/drawingml/2006/main" prst="rect">
            <a:avLst/>
          </a:prstGeom>
        </p:spPr>
      </p:pic>
      <p:sp>
        <p:nvSpPr>
          <p:cNvPr id="916" name="Shape 916">
            <a:extLst xmlns:a="http://schemas.openxmlformats.org/drawingml/2006/main">
              <a:ext uri="{FF2B5EF4-FFF2-40B4-BE49-F238E27FC236}">
                <a16:creationId xmlns:a16="http://schemas.microsoft.com/office/drawing/2014/main" id="{B9F6D528-8F1A-489E-A2E7-BA952895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1" i="0">
                <a:solidFill>
                  <a:srgbClr val="4D7CFE"/>
                </a:solidFill>
                <a:latin typeface="Sora"/>
                <a:ea typeface="Sora"/>
                <a:cs typeface="Sora"/>
              </a:rPr>
              <a:t>04</a:t>
            </a:r>
            <a:endParaRPr/>
          </a:p>
        </p:txBody>
      </p:sp>
      <p:sp>
        <p:nvSpPr>
          <p:cNvPr id="917" name="Shape 917">
            <a:extLst xmlns:a="http://schemas.openxmlformats.org/drawingml/2006/main">
              <a:ext uri="{FF2B5EF4-FFF2-40B4-BE49-F238E27FC236}">
                <a16:creationId xmlns:a16="http://schemas.microsoft.com/office/drawing/2014/main" id="{63B00E6B-D266-416F-BAE7-D7197C1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29038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725" b="1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725" b="1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Review &amp; report</a:t>
            </a:r>
            <a:endParaRPr/>
          </a:p>
        </p:txBody>
      </p:sp>
      <p:sp>
        <p:nvSpPr>
          <p:cNvPr id="918" name="Shape 918">
            <a:extLst xmlns:a="http://schemas.openxmlformats.org/drawingml/2006/main">
              <a:ext uri="{FF2B5EF4-FFF2-40B4-BE49-F238E27FC236}">
                <a16:creationId xmlns:a16="http://schemas.microsoft.com/office/drawing/2014/main" id="{56077883-4FF7-4C80-A801-2333B9FA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3788"/>
            <a:ext cx="851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Run missing tests, inspect failures and complete reviews.</a:t>
            </a:r>
            <a:endParaRPr/>
          </a:p>
          <a:p xmlns:a="http://schemas.openxmlformats.org/drawingml/2006/main">
            <a:pPr algn="l">
              <a:lnSpc>
                <a:spcPts val="2400"/>
              </a:lnSpc>
              <a:buNone/>
              <a:defRPr sz="1650" b="0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Bind the report to the candidate snapshot and hand off to release.</a:t>
            </a:r>
            <a:endParaRPr/>
          </a:p>
        </p:txBody>
      </p:sp>
      <p:sp>
        <p:nvSpPr>
          <p:cNvPr id="919" name="Shape 919">
            <a:extLst xmlns:a="http://schemas.openxmlformats.org/drawingml/2006/main">
              <a:ext uri="{FF2B5EF4-FFF2-40B4-BE49-F238E27FC236}">
                <a16:creationId xmlns:a16="http://schemas.microsoft.com/office/drawing/2014/main" id="{FC260DF7-6AED-4C92-9E71-AF28350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1647D8"/>
                </a:solidFill>
                <a:latin typeface="Inter"/>
                <a:ea typeface="Inter"/>
                <a:cs typeface="Inter"/>
              </a:rPr>
              <a:t>Pages</a:t>
            </a:r>
            <a:endParaRPr/>
          </a:p>
        </p:txBody>
      </p:sp>
      <p:sp>
        <p:nvSpPr>
          <p:cNvPr id="920" name="Shape 920">
            <a:extLst xmlns:a="http://schemas.openxmlformats.org/drawingml/2006/main">
              <a:ext uri="{FF2B5EF4-FFF2-40B4-BE49-F238E27FC236}">
                <a16:creationId xmlns:a16="http://schemas.microsoft.com/office/drawing/2014/main" id="{59E015C5-3119-4FAB-9133-E32F0993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Overview: decision, blockers, gates</a:t>
            </a:r>
            <a:endParaRPr/>
          </a:p>
        </p:txBody>
      </p:sp>
      <p:sp>
        <p:nvSpPr>
          <p:cNvPr id="921" name="Shape 921">
            <a:extLst xmlns:a="http://schemas.openxmlformats.org/drawingml/2006/main">
              <a:ext uri="{FF2B5EF4-FFF2-40B4-BE49-F238E27FC236}">
                <a16:creationId xmlns:a16="http://schemas.microsoft.com/office/drawing/2014/main" id="{BAA075B0-C107-4694-BCCD-2723684C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71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Test evidence</a:t>
            </a:r>
            <a:endParaRPr/>
          </a:p>
        </p:txBody>
      </p:sp>
      <p:sp>
        <p:nvSpPr>
          <p:cNvPr id="922" name="Shape 922">
            <a:extLst xmlns:a="http://schemas.openxmlformats.org/drawingml/2006/main">
              <a:ext uri="{FF2B5EF4-FFF2-40B4-BE49-F238E27FC236}">
                <a16:creationId xmlns:a16="http://schemas.microsoft.com/office/drawing/2014/main" id="{5F1221C3-DBFA-483A-8365-9EE0EAF2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Version comparison</a:t>
            </a:r>
            <a:endParaRPr/>
          </a:p>
        </p:txBody>
      </p:sp>
      <p:sp>
        <p:nvSpPr>
          <p:cNvPr id="923" name="Shape 923">
            <a:extLst xmlns:a="http://schemas.openxmlformats.org/drawingml/2006/main">
              <a:ext uri="{FF2B5EF4-FFF2-40B4-BE49-F238E27FC236}">
                <a16:creationId xmlns:a16="http://schemas.microsoft.com/office/drawing/2014/main" id="{1B50DE0A-5F89-4AA6-ABD1-ADAE2715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719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>
                <a:solidFill>
                  <a:srgbClr val="37475C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37475C"/>
                </a:solidFill>
                <a:latin typeface="Inter"/>
                <a:ea typeface="Inter"/>
                <a:cs typeface="Inter"/>
              </a:rPr>
              <a:t>Human review</a:t>
            </a:r>
            <a:endParaRPr/>
          </a:p>
        </p:txBody>
      </p:sp>
      <p:sp>
        <p:nvSpPr>
          <p:cNvPr id="924" name="Shape 924">
            <a:extLst xmlns:a="http://schemas.openxmlformats.org/drawingml/2006/main">
              <a:ext uri="{FF2B5EF4-FFF2-40B4-BE49-F238E27FC236}">
                <a16:creationId xmlns:a16="http://schemas.microsoft.com/office/drawing/2014/main" id="{D5C97AB5-F0CE-4B97-84AB-766BA495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350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1647D8"/>
                </a:solidFill>
                <a:latin typeface="Inter"/>
                <a:ea typeface="Inter"/>
                <a:cs typeface="Inter"/>
              </a:rPr>
              <a:t>Workflow</a:t>
            </a:r>
            <a:endParaRPr/>
          </a:p>
        </p:txBody>
      </p:sp>
      <p:sp>
        <p:nvSpPr>
          <p:cNvPr id="925" name="Shape 925">
            <a:extLst xmlns:a="http://schemas.openxmlformats.org/drawingml/2006/main">
              <a:ext uri="{FF2B5EF4-FFF2-40B4-BE49-F238E27FC236}">
                <a16:creationId xmlns:a16="http://schemas.microsoft.com/office/drawing/2014/main" id="{19F96F98-E86C-4D09-8714-7A228EEE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1</a:t>
            </a:r>
            <a:endParaRPr/>
          </a:p>
        </p:txBody>
      </p:sp>
      <p:sp>
        <p:nvSpPr>
          <p:cNvPr id="926" name="Shape 926">
            <a:extLst xmlns:a="http://schemas.openxmlformats.org/drawingml/2006/main">
              <a:ext uri="{FF2B5EF4-FFF2-40B4-BE49-F238E27FC236}">
                <a16:creationId xmlns:a16="http://schemas.microsoft.com/office/drawing/2014/main" id="{B985FD66-5DF8-4DBB-B4A1-FFE2F37F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Version &amp; plan</a:t>
            </a:r>
            <a:endParaRPr/>
          </a:p>
        </p:txBody>
      </p:sp>
      <p:pic>
        <p:nvPicPr>
          <p:cNvPr id="315" name="Presenton Native Image 22">
            <a:extLst xmlns:a="http://schemas.openxmlformats.org/drawingml/2006/main">
              <a:ext uri="{FF2B5EF4-FFF2-40B4-BE49-F238E27FC236}">
                <a16:creationId xmlns:a16="http://schemas.microsoft.com/office/drawing/2014/main" id="{3AFB481A-5A8E-4254-98C9-E8AC714B8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72821e7ab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81275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927" name="Shape 927">
            <a:extLst xmlns:a="http://schemas.openxmlformats.org/drawingml/2006/main">
              <a:ext uri="{FF2B5EF4-FFF2-40B4-BE49-F238E27FC236}">
                <a16:creationId xmlns:a16="http://schemas.microsoft.com/office/drawing/2014/main" id="{67B03A8D-6ACB-4619-A995-AFEACA47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2</a:t>
            </a:r>
            <a:endParaRPr/>
          </a:p>
        </p:txBody>
      </p:sp>
      <p:sp>
        <p:nvSpPr>
          <p:cNvPr id="928" name="Shape 928">
            <a:extLst xmlns:a="http://schemas.openxmlformats.org/drawingml/2006/main">
              <a:ext uri="{FF2B5EF4-FFF2-40B4-BE49-F238E27FC236}">
                <a16:creationId xmlns:a16="http://schemas.microsoft.com/office/drawing/2014/main" id="{6948C338-F249-44C2-A131-F6E5A998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Match Test runs</a:t>
            </a:r>
            <a:endParaRPr/>
          </a:p>
        </p:txBody>
      </p:sp>
      <p:pic>
        <p:nvPicPr>
          <p:cNvPr id="316" name="Presenton Native Image 23">
            <a:extLst xmlns:a="http://schemas.openxmlformats.org/drawingml/2006/main">
              <a:ext uri="{FF2B5EF4-FFF2-40B4-BE49-F238E27FC236}">
                <a16:creationId xmlns:a16="http://schemas.microsoft.com/office/drawing/2014/main" id="{BBF30987-105C-49A7-8750-D39EF9AE9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72821e7ab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929" name="Shape 929">
            <a:extLst xmlns:a="http://schemas.openxmlformats.org/drawingml/2006/main">
              <a:ext uri="{FF2B5EF4-FFF2-40B4-BE49-F238E27FC236}">
                <a16:creationId xmlns:a16="http://schemas.microsoft.com/office/drawing/2014/main" id="{60EFFA54-B044-4A34-B4E6-1C7844C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3</a:t>
            </a:r>
            <a:endParaRPr/>
          </a:p>
        </p:txBody>
      </p:sp>
      <p:sp>
        <p:nvSpPr>
          <p:cNvPr id="930" name="Shape 930">
            <a:extLst xmlns:a="http://schemas.openxmlformats.org/drawingml/2006/main">
              <a:ext uri="{FF2B5EF4-FFF2-40B4-BE49-F238E27FC236}">
                <a16:creationId xmlns:a16="http://schemas.microsoft.com/office/drawing/2014/main" id="{3B34F884-23E9-4E3A-9F37-B70E997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Test &amp; review</a:t>
            </a:r>
            <a:endParaRPr/>
          </a:p>
        </p:txBody>
      </p:sp>
      <p:pic>
        <p:nvPicPr>
          <p:cNvPr id="317" name="Presenton Native Image 24">
            <a:extLst xmlns:a="http://schemas.openxmlformats.org/drawingml/2006/main">
              <a:ext uri="{FF2B5EF4-FFF2-40B4-BE49-F238E27FC236}">
                <a16:creationId xmlns:a16="http://schemas.microsoft.com/office/drawing/2014/main" id="{E4CDA992-1AAB-456B-A9EF-E15EC81C8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72821e7ab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4225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931" name="Shape 931">
            <a:extLst xmlns:a="http://schemas.openxmlformats.org/drawingml/2006/main">
              <a:ext uri="{FF2B5EF4-FFF2-40B4-BE49-F238E27FC236}">
                <a16:creationId xmlns:a16="http://schemas.microsoft.com/office/drawing/2014/main" id="{C202A0AB-A6C2-4D34-97F3-BA819D26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4</a:t>
            </a:r>
            <a:endParaRPr/>
          </a:p>
        </p:txBody>
      </p:sp>
      <p:sp>
        <p:nvSpPr>
          <p:cNvPr id="932" name="Shape 932">
            <a:extLst xmlns:a="http://schemas.openxmlformats.org/drawingml/2006/main">
              <a:ext uri="{FF2B5EF4-FFF2-40B4-BE49-F238E27FC236}">
                <a16:creationId xmlns:a16="http://schemas.microsoft.com/office/drawing/2014/main" id="{24DD0DE6-5C65-48D5-9D1B-B10721F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Make a decision</a:t>
            </a:r>
            <a:endParaRPr/>
          </a:p>
        </p:txBody>
      </p:sp>
      <p:pic>
        <p:nvPicPr>
          <p:cNvPr id="318" name="Presenton Native Image 25">
            <a:extLst xmlns:a="http://schemas.openxmlformats.org/drawingml/2006/main">
              <a:ext uri="{FF2B5EF4-FFF2-40B4-BE49-F238E27FC236}">
                <a16:creationId xmlns:a16="http://schemas.microsoft.com/office/drawing/2014/main" id="{37225A19-CE11-4814-8907-D30ED18B9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72821e7ab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5257800"/>
            <a:ext cx="152400" cy="19050"/>
          </a:xfrm>
          <a:prstGeom xmlns:a="http://schemas.openxmlformats.org/drawingml/2006/main" prst="rect">
            <a:avLst/>
          </a:prstGeom>
        </p:spPr>
      </p:pic>
      <p:sp>
        <p:nvSpPr>
          <p:cNvPr id="933" name="Shape 933">
            <a:extLst xmlns:a="http://schemas.openxmlformats.org/drawingml/2006/main">
              <a:ext uri="{FF2B5EF4-FFF2-40B4-BE49-F238E27FC236}">
                <a16:creationId xmlns:a16="http://schemas.microsoft.com/office/drawing/2014/main" id="{276E167F-E584-443A-831D-B94362C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5</a:t>
            </a:r>
            <a:endParaRPr/>
          </a:p>
        </p:txBody>
      </p:sp>
      <p:sp>
        <p:nvSpPr>
          <p:cNvPr id="934" name="Shape 934">
            <a:extLst xmlns:a="http://schemas.openxmlformats.org/drawingml/2006/main">
              <a:ext uri="{FF2B5EF4-FFF2-40B4-BE49-F238E27FC236}">
                <a16:creationId xmlns:a16="http://schemas.microsoft.com/office/drawing/2014/main" id="{5925302E-0F06-4E4D-A399-2D98E962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133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100"/>
              </a:lnSpc>
              <a:buNone/>
              <a:defRPr sz="1425" b="0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Start release</a:t>
            </a:r>
            <a:endParaRPr/>
          </a:p>
        </p:txBody>
      </p:sp>
      <p:sp>
        <p:nvSpPr>
          <p:cNvPr id="935" name="Shape 935">
            <a:extLst xmlns:a="http://schemas.openxmlformats.org/drawingml/2006/main">
              <a:ext uri="{FF2B5EF4-FFF2-40B4-BE49-F238E27FC236}">
                <a16:creationId xmlns:a16="http://schemas.microsoft.com/office/drawing/2014/main" id="{4A552786-39ED-463E-83D2-CAD01AD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11125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6" name="Shape 936">
            <a:extLst xmlns:a="http://schemas.openxmlformats.org/drawingml/2006/main">
              <a:ext uri="{FF2B5EF4-FFF2-40B4-BE49-F238E27FC236}">
                <a16:creationId xmlns:a16="http://schemas.microsoft.com/office/drawing/2014/main" id="{56A1483A-DD29-4261-99E8-9AD293E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 sz="1425" b="1">
                <a:solidFill>
                  <a:srgbClr val="1647D8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1647D8"/>
                </a:solidFill>
                <a:latin typeface="Inter"/>
                <a:ea typeface="Inter"/>
                <a:cs typeface="Inter"/>
              </a:rPr>
              <a:t>Release requirements</a:t>
            </a:r>
            <a:endParaRPr/>
          </a:p>
        </p:txBody>
      </p:sp>
      <p:sp>
        <p:nvSpPr>
          <p:cNvPr id="937" name="Shape 937">
            <a:extLst xmlns:a="http://schemas.openxmlformats.org/drawingml/2006/main">
              <a:ext uri="{FF2B5EF4-FFF2-40B4-BE49-F238E27FC236}">
                <a16:creationId xmlns:a16="http://schemas.microsoft.com/office/drawing/2014/main" id="{DA908778-5F46-4EE7-8AF1-2AF527A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2400"/>
              </a:lnSpc>
              <a:buNone/>
              <a:defRPr sz="1538">
                <a:solidFill>
                  <a:srgbClr val="182230"/>
                </a:solidFill>
                <a:latin typeface="Inter"/>
                <a:ea typeface="Inter"/>
                <a:cs typeface="Inter"/>
              </a:defRPr>
            </a:pPr>
            <a:r>
              <a:rPr sz="1538" b="0" i="0">
                <a:solidFill>
                  <a:srgbClr val="182230"/>
                </a:solidFill>
                <a:latin typeface="Inter"/>
                <a:ea typeface="Inter"/>
                <a:cs typeface="Inter"/>
              </a:rPr>
              <a:t>Complete evidence + All blocking gates passed + Required reviews complete + Report matches candidate</a:t>
            </a:r>
            <a:endParaRPr/>
          </a:p>
        </p:txBody>
      </p:sp>
      <p:sp>
        <p:nvSpPr>
          <p:cNvPr id="938" name="Shape 938">
            <a:extLst xmlns:a="http://schemas.openxmlformats.org/drawingml/2006/main">
              <a:ext uri="{FF2B5EF4-FFF2-40B4-BE49-F238E27FC236}">
                <a16:creationId xmlns:a16="http://schemas.microsoft.com/office/drawing/2014/main" id="{C7921063-8DEE-4648-9FBB-F562DE55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defPPr>
            <a:lvl1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1pPr>
            <a:lvl2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2pPr>
            <a:lvl3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3pPr>
            <a:lvl4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4pPr>
            <a:lvl5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5pPr>
            <a:lvl6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6pPr>
            <a:lvl7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7pPr>
            <a:lvl8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8pPr>
            <a:lvl9pPr algn="l"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 sz="1425">
                <a:solidFill>
                  <a:srgbClr val="526278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526278"/>
                </a:solidFill>
                <a:latin typeface="Inter"/>
                <a:ea typeface="Inter"/>
                <a:cs typeface="Inter"/>
              </a:rPr>
              <a:t>Missing tests are not passes. Scores cannot offset critical failures. Passing gates and releasing are separate.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55025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2026-10-27T21:47:25.8580000Z</dcterms:created>
  <dcterms:modified xsi:type="dcterms:W3CDTF">2026-10-27T21:47:25.8590000Z</dcterms:modified>
</coreProperties>
</file>